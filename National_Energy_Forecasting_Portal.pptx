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3C68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0B3C68"/>
                </a:solidFill>
                <a:latin typeface="Arial"/>
              </a:rPr>
              <a:t>Model Accuracy Benchmark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B3C6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Ensemble</c:v>
                </c:pt>
                <c:pt idx="1">
                  <c:v>LSTM</c:v>
                </c:pt>
                <c:pt idx="2">
                  <c:v>XGBoost</c:v>
                </c:pt>
                <c:pt idx="3">
                  <c:v>Prophet</c:v>
                </c:pt>
                <c:pt idx="4">
                  <c:v>ARIMA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95.4</c:v>
                </c:pt>
                <c:pt idx="1">
                  <c:v>93.1</c:v>
                </c:pt>
                <c:pt idx="2">
                  <c:v>91.8</c:v>
                </c:pt>
                <c:pt idx="3">
                  <c:v>88.5</c:v>
                </c:pt>
                <c:pt idx="4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8A-48D0-8CDA-EF6157B6E5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3C68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0B3C68"/>
                </a:solidFill>
                <a:latin typeface="Arial"/>
              </a:rPr>
              <a:t>Generation by Source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C7-477C-AF79-5BDD02DA768F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C7-477C-AF79-5BDD02DA768F}"/>
              </c:ext>
            </c:extLst>
          </c:dPt>
          <c:dPt>
            <c:idx val="2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C7-477C-AF79-5BDD02DA768F}"/>
              </c:ext>
            </c:extLst>
          </c:dPt>
          <c:dPt>
            <c:idx val="3"/>
            <c:bubble3D val="0"/>
            <c:spPr>
              <a:solidFill>
                <a:srgbClr val="84CC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C7-477C-AF79-5BDD02DA768F}"/>
              </c:ext>
            </c:extLst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C7-477C-AF79-5BDD02DA768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C7-477C-AF79-5BDD02DA768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C7-477C-AF79-5BDD02DA768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C7-477C-AF79-5BDD02DA768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C7-477C-AF79-5BDD02DA768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C7-477C-AF79-5BDD02DA768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Solar 52.6 GW</c:v>
                </c:pt>
                <c:pt idx="1">
                  <c:v>Wind 24.2 GW</c:v>
                </c:pt>
                <c:pt idx="2">
                  <c:v>Hydro 15.6 GW</c:v>
                </c:pt>
                <c:pt idx="3">
                  <c:v>Biomass 5.8 GW</c:v>
                </c:pt>
                <c:pt idx="4">
                  <c:v>Other 2.4 GW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52.6</c:v>
                </c:pt>
                <c:pt idx="1">
                  <c:v>24.2</c:v>
                </c:pt>
                <c:pt idx="2">
                  <c:v>15.6</c:v>
                </c:pt>
                <c:pt idx="3">
                  <c:v>5.8</c:v>
                </c:pt>
                <c:pt idx="4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4C7-477C-AF79-5BDD02DA76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60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0B3C6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INDIA  |  MINISTRY OF POWER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Energy Forecasting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Monitoring Portal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Energy Forecasting for a Smarter and Sustainable India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B3C6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651760" y="3566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B3C6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36576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3566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B3C6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5760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75120" y="3566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B3C6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65760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Desk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22" name="Text 1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UN SDG 7  •  Affordable and Clean Energy  •  energy.gov.in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Vision &amp; Mandate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objectives and statutory framework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28600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373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4300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digital twin, dashboards &amp; analytics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3520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52044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3736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models, accuracy metrics &amp; methodology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105156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1264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&amp; Peak Mgmt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3212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energy tracking and load alerts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754880" y="22860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54880" y="228600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6060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3212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Tools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53212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savings planner &amp; AI advisor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754880" y="35204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3520440"/>
            <a:ext cx="9144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8404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3212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1264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Way Forward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5321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7 alignment and national outcomes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VISION &amp; MANDATE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73152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373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Forecasting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6012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&amp; multi-day for 5 regional grids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042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Integration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60120" y="2532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500 GW non-fossil by 2030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7121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 Smoothing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60120" y="30998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 tariff optimization &amp; load shifting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43814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Decarbonization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960120" y="3666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LiFE actionable guidelines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005072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960120" y="4233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192+ GW non-fossil generation live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709160" y="1005840"/>
            <a:ext cx="4114800" cy="7315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1234440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4924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Framework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4937760" y="1828800"/>
            <a:ext cx="3657600" cy="594360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28" name="Text 19"/>
          <p:cNvSpPr/>
          <p:nvPr/>
        </p:nvSpPr>
        <p:spPr>
          <a:xfrm>
            <a:off x="5074920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Act, 2003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074920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25 &amp; 28 – NLDC coordination &amp; grid reliability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937760" y="2514600"/>
            <a:ext cx="3657600" cy="594360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31" name="Text 22"/>
          <p:cNvSpPr/>
          <p:nvPr/>
        </p:nvSpPr>
        <p:spPr>
          <a:xfrm>
            <a:off x="5074920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Conservation Act, 2022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074920" y="2807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credit trading, star labeling &amp; industrial audits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937760" y="3200400"/>
            <a:ext cx="3657600" cy="594360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34" name="Text 25"/>
          <p:cNvSpPr/>
          <p:nvPr/>
        </p:nvSpPr>
        <p:spPr>
          <a:xfrm>
            <a:off x="507492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 Standards (S.O. 4235E)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074920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24°C default AC temperature regulation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937760" y="3886200"/>
            <a:ext cx="3657600" cy="594360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37" name="Text 28"/>
          <p:cNvSpPr/>
          <p:nvPr/>
        </p:nvSpPr>
        <p:spPr>
          <a:xfrm>
            <a:off x="507492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Sustainable Development Goal 7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074920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7.1 Access • 7.2 RE Expansion • 7.3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Forecasting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Multi-horizon demand prediction with 95%+ confidence, MAE 1.78 GW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51560"/>
            <a:ext cx="278892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Digital Twin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GIS model of regional grids, transmission &amp; RE parks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05156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051560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3716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Tracking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192.5 GW capacity, real-time generation share &amp; state rankings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20040" y="29718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2971800"/>
            <a:ext cx="2788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918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Alerts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292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heatmaps, statutory advisories &amp; load-shifting guidance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246120" y="29718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2971800"/>
            <a:ext cx="2788920" cy="54864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0" name="Shape 24"/>
          <p:cNvSpPr/>
          <p:nvPr/>
        </p:nvSpPr>
        <p:spPr>
          <a:xfrm>
            <a:off x="3429000" y="320040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29184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690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Audit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42900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Persona-based metering, diurnal profiles &amp; appliance breakdown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72200" y="2971800"/>
            <a:ext cx="2788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72200" y="2971800"/>
            <a:ext cx="278892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6" name="Shape 29"/>
          <p:cNvSpPr/>
          <p:nvPr/>
        </p:nvSpPr>
        <p:spPr>
          <a:xfrm>
            <a:off x="6355080" y="3200400"/>
            <a:ext cx="502920" cy="502920"/>
          </a:xfrm>
          <a:prstGeom prst="ellipse">
            <a:avLst/>
          </a:prstGeom>
          <a:solidFill>
            <a:srgbClr val="EBF3FA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9184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Advisor Desk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35508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 &amp; SDG-grounded chatbot for schemes, ToD &amp; efficiency queries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DEMAND FORECASTING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1.78 GW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691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097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 GW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005840"/>
            <a:ext cx="1691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097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1.82 %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005840"/>
            <a:ext cx="1691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005840"/>
            <a:ext cx="1691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097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95.4 %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0664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28600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029200" y="22860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Historical Energy Data Ingest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Preprocessing &amp; Feature Eng.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0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Weather + Calendar Covariates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1208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Ensemble ML / Deep Learning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Demand Forecast Output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1208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Peak Detection + Decision Support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ENERGY DEMAND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80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214.6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Demand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88920" cy="73152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80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221.8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7830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377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+3.3% 24h Outlook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51560"/>
            <a:ext cx="27889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280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235.2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19:30 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26080"/>
            <a:ext cx="27889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154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" y="36576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977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Gen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4251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 Grid Share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926080"/>
            <a:ext cx="2788920" cy="73152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3154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246120" y="36576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977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46120" y="4251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Compliant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92608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926080"/>
            <a:ext cx="27889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3154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72200" y="36576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 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977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Avoided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4251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Metric Tons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192.5 GW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Capacity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500 GW by 2030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005840"/>
            <a:ext cx="21031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0972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 GW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51460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Generation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Dispatch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21031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0972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5488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Share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Load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95160" y="1005840"/>
            <a:ext cx="21031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0972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 GW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99516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Gen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9516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+6.7% Tomorrow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423160"/>
          <a:ext cx="43891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846320" y="242316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States by RE Capacity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292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Rajasthan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040880" y="3017520"/>
            <a:ext cx="1353312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2"/>
          <p:cNvSpPr/>
          <p:nvPr/>
        </p:nvSpPr>
        <p:spPr>
          <a:xfrm>
            <a:off x="75895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 GW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02920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Gujarat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7040880" y="3364992"/>
            <a:ext cx="124358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25"/>
          <p:cNvSpPr/>
          <p:nvPr/>
        </p:nvSpPr>
        <p:spPr>
          <a:xfrm>
            <a:off x="758952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 GW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02920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Karnataka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7040880" y="3712464"/>
            <a:ext cx="1042416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28"/>
          <p:cNvSpPr/>
          <p:nvPr/>
        </p:nvSpPr>
        <p:spPr>
          <a:xfrm>
            <a:off x="7589520" y="3666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 GW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02920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Maharashtra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7040880" y="4059936"/>
            <a:ext cx="102412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1"/>
          <p:cNvSpPr/>
          <p:nvPr/>
        </p:nvSpPr>
        <p:spPr>
          <a:xfrm>
            <a:off x="7589520" y="4014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 GW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502920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Tamil Nadu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040880" y="4407408"/>
            <a:ext cx="987552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4"/>
          <p:cNvSpPr/>
          <p:nvPr/>
        </p:nvSpPr>
        <p:spPr>
          <a:xfrm>
            <a:off x="7589520" y="4361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 GW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 MONITORING &amp; GRID ALERTS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109728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GRID DESPATCH ADVISORY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demand forecast during evening peak (18:00–21:00). SLDCs may activate spinning reserves, enforce industrial load staggering, and promote ToD load shifting.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148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148840"/>
            <a:ext cx="20574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235.2 GW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004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+4.2% vs yesterday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14600" y="2148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2148840"/>
            <a:ext cx="20574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16" name="Text 13"/>
          <p:cNvSpPr/>
          <p:nvPr/>
        </p:nvSpPr>
        <p:spPr>
          <a:xfrm>
            <a:off x="251460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238.4 GW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51460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Peak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1460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+1.3% outlook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148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2148840"/>
            <a:ext cx="2057400" cy="54864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19:30–21:00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0916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Window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0916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surcharge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2148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03720" y="2148840"/>
            <a:ext cx="20574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90372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Probability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0372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Alert status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" y="37033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2296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 Heatmap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intensity grid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514600" y="37033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84048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01752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Alerts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2651760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&gt;76.5 GW risk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709160" y="37033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840480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1208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846320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industrial surge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903720" y="37033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384048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40664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Opportunity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040880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&gt;52 GW solar window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TOOLS: AUDIT, PLANNER &amp; AI ADVISOR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640080"/>
          </a:xfrm>
          <a:prstGeom prst="rect">
            <a:avLst/>
          </a:prstGeom>
          <a:solidFill>
            <a:srgbClr val="0B3C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Audit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 profiles (Home, Campus, Commercial)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CSV upload or benchmark preloaded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interactive Plotly analytics graphs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Daily trend, diurnal ToD, appliance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Carbon impact &amp; peak-to-average ratio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51560"/>
            <a:ext cx="2788920" cy="6400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887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Planner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8328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24-hour load flattening (before/after)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8328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Multi-tier cost savings projections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Target reduction slider (5–40%)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8328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Bill savings, CO₂, trees equivalent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8328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ToD peak-shaving recommendations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2648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051560"/>
            <a:ext cx="278892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8872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Advisor Desk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30936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BEE &amp; SDG 7 grounded responses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Quick prompts: 24°C AC, PM Surya Ghar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936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Appliance waste diagnostic wizard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0936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Verified statutory source citations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Offline + online LLM support modes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SCHEMES, DATA &amp; REPORTS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97680" cy="5029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National Schemes (11)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PM Surya Ghar Muft Bijli Yojana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Mission LiFE (Lifestyle for Environment)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BEE Star Labeling Programme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National Solar Mission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Perform Achieve &amp; Trade (PAT)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Green Energy Corridor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27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Time-of-Day Tariff Framework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Energy Conservation Building Code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739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National Smart Grid Mission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Carbon Credit Trading Scheme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Ujjwala &amp; Saubhagya Extensions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492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Publications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373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924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Data Inventory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349240" y="1993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grid time-series, meteorological covariates, CSV/Excel/JSON with validation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&amp; NLDC Reports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49240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Gazette-aligned publications with view, PDF and CSV download for researchers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49240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State-Wise GIS Telemetry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34924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States &amp; UTs – demand, RE, peak, growth, accuracy &amp; risk filters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9319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Dataset Download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34924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multi-variable baseline telemetry for model testing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ALIGNMENT WITH SDG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640080"/>
          </a:xfrm>
          <a:prstGeom prst="rect">
            <a:avLst/>
          </a:prstGeom>
          <a:solidFill>
            <a:srgbClr val="0B3C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Reliability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Hourly &amp; multi-day national forecasts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regional interconnection visibility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Spinning reserve &amp; ToD guidance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95%+ forecast confidence bands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105156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51560"/>
            <a:ext cx="278892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Energy Transition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192.5 GW RE capacity tracked live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Path to 500 GW by 2030 supported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Solar/wind/hydro source breakdown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8328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State-level RE ranking &amp; opportunity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26480" y="105156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051560"/>
            <a:ext cx="2788920" cy="6400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887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Empowerment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0936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Household &amp; commercial audits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936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Actionable savings &amp; CO₂ metrics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0936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Scheme discovery &amp; eligibility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0936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BEE star appliance diagnostics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B3C68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9768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0584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SDG 7 — Affordable &amp; Clean Energy  |  7.1 Universal Access  •  7.2 Renewable Expansion  •  7.3 Energy Efficiency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2743200" cy="2743200"/>
          </a:xfrm>
          <a:prstGeom prst="ellipse">
            <a:avLst/>
          </a:prstGeom>
          <a:solidFill>
            <a:srgbClr val="0B3C6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Energy Forecasting &amp; Monitoring Portal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Energy Forecasting for a Smarter and Sustainable India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3C68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Helpline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716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3C68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011-26732000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3C68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1800-180-1122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Power  •  Central Electricity Authority  •  Bureau of Energy Efficiency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Energy Forecasting &amp; Monitoring Portal</dc:title>
  <dc:subject>AI-Driven Energy Forecasting for a Smarter and Sustainable India</dc:subject>
  <dc:creator>Ministry of Power | Government of India</dc:creator>
  <cp:lastModifiedBy>adiba13ansari@gmail.com</cp:lastModifiedBy>
  <cp:revision>2</cp:revision>
  <dcterms:created xsi:type="dcterms:W3CDTF">2026-09-13T16:59:19Z</dcterms:created>
  <dcterms:modified xsi:type="dcterms:W3CDTF">2026-09-13T17:03:52Z</dcterms:modified>
</cp:coreProperties>
</file>